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9" r:id="rId2"/>
  </p:sldIdLst>
  <p:sldSz cx="12599988" cy="5400675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73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1029" y="8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4999" y="883861"/>
            <a:ext cx="9449991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2836605"/>
            <a:ext cx="9449991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BC01F-9DC7-45DF-BB04-F253B8D530BF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210A9-896D-4B8F-8420-45625ED98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835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BC01F-9DC7-45DF-BB04-F253B8D530BF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210A9-896D-4B8F-8420-45625ED98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402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1346419"/>
            <a:ext cx="10867490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3614203"/>
            <a:ext cx="10867490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BC01F-9DC7-45DF-BB04-F253B8D530BF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210A9-896D-4B8F-8420-45625ED98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443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1437680"/>
            <a:ext cx="5354995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1437680"/>
            <a:ext cx="5354995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BC01F-9DC7-45DF-BB04-F253B8D530BF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210A9-896D-4B8F-8420-45625ED98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265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287536"/>
            <a:ext cx="10867490" cy="104388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1" y="1323916"/>
            <a:ext cx="5330385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1" y="1972747"/>
            <a:ext cx="5330385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4" y="1323916"/>
            <a:ext cx="535663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4" y="1972747"/>
            <a:ext cx="5356636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BC01F-9DC7-45DF-BB04-F253B8D530BF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210A9-896D-4B8F-8420-45625ED98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945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BC01F-9DC7-45DF-BB04-F253B8D530BF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210A9-896D-4B8F-8420-45625ED98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500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BC01F-9DC7-45DF-BB04-F253B8D530BF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210A9-896D-4B8F-8420-45625ED98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6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360045"/>
            <a:ext cx="406382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777597"/>
            <a:ext cx="6378744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620202"/>
            <a:ext cx="406382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BC01F-9DC7-45DF-BB04-F253B8D530BF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210A9-896D-4B8F-8420-45625ED98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816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360045"/>
            <a:ext cx="406382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777597"/>
            <a:ext cx="6378744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620202"/>
            <a:ext cx="406382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BC01F-9DC7-45DF-BB04-F253B8D530BF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210A9-896D-4B8F-8420-45625ED98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437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BC01F-9DC7-45DF-BB04-F253B8D530BF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210A9-896D-4B8F-8420-45625ED98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885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287536"/>
            <a:ext cx="2716872" cy="457682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49" y="287536"/>
            <a:ext cx="7993117" cy="457682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BC01F-9DC7-45DF-BB04-F253B8D530BF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210A9-896D-4B8F-8420-45625ED98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293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287536"/>
            <a:ext cx="10867490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1437680"/>
            <a:ext cx="10867490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5005626"/>
            <a:ext cx="283499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BC01F-9DC7-45DF-BB04-F253B8D530BF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5005626"/>
            <a:ext cx="4252496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5005626"/>
            <a:ext cx="283499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5210A9-896D-4B8F-8420-45625ED98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033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文本框 573">
            <a:extLst>
              <a:ext uri="{FF2B5EF4-FFF2-40B4-BE49-F238E27FC236}">
                <a16:creationId xmlns:a16="http://schemas.microsoft.com/office/drawing/2014/main" id="{12788C6E-795D-4AB4-B576-01ADEC8429ED}"/>
              </a:ext>
            </a:extLst>
          </p:cNvPr>
          <p:cNvSpPr txBox="1"/>
          <p:nvPr/>
        </p:nvSpPr>
        <p:spPr>
          <a:xfrm>
            <a:off x="1271453" y="668923"/>
            <a:ext cx="38130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Optimized p</a:t>
            </a:r>
            <a:r>
              <a:rPr lang="en-US" altLang="zh-CN" sz="2200" i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zh-CN" sz="2200" baseline="-2500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-derived </a:t>
            </a:r>
          </a:p>
          <a:p>
            <a:pPr algn="ctr"/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pI (</a:t>
            </a:r>
            <a:r>
              <a:rPr lang="en-US" altLang="zh-CN" sz="2200" b="1">
                <a:latin typeface="Arial" panose="020B0604020202020204" pitchFamily="34" charset="0"/>
                <a:cs typeface="Arial" panose="020B0604020202020204" pitchFamily="34" charset="0"/>
              </a:rPr>
              <a:t>pI</a:t>
            </a:r>
            <a:r>
              <a:rPr lang="en-US" altLang="zh-CN" sz="2200" b="1" baseline="-25000">
                <a:latin typeface="Arial" panose="020B0604020202020204" pitchFamily="34" charset="0"/>
                <a:cs typeface="Arial" panose="020B0604020202020204" pitchFamily="34" charset="0"/>
              </a:rPr>
              <a:t>base</a:t>
            </a: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zh-CN" sz="2200" b="1" baseline="30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4" name="文本框 493">
            <a:extLst>
              <a:ext uri="{FF2B5EF4-FFF2-40B4-BE49-F238E27FC236}">
                <a16:creationId xmlns:a16="http://schemas.microsoft.com/office/drawing/2014/main" id="{0A7DA3FC-3652-4EE0-BDC7-9C56D44B9702}"/>
              </a:ext>
            </a:extLst>
          </p:cNvPr>
          <p:cNvSpPr txBox="1"/>
          <p:nvPr/>
        </p:nvSpPr>
        <p:spPr>
          <a:xfrm>
            <a:off x="-172561" y="988042"/>
            <a:ext cx="17930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b="1">
                <a:latin typeface="Arial" panose="020B0604020202020204" pitchFamily="34" charset="0"/>
                <a:cs typeface="Arial" panose="020B0604020202020204" pitchFamily="34" charset="0"/>
              </a:rPr>
              <a:t>Input </a:t>
            </a:r>
          </a:p>
          <a:p>
            <a:pPr algn="ctr"/>
            <a:r>
              <a:rPr lang="en-US" altLang="zh-CN" sz="2200" b="1">
                <a:latin typeface="Arial" panose="020B0604020202020204" pitchFamily="34" charset="0"/>
                <a:cs typeface="Arial" panose="020B0604020202020204" pitchFamily="34" charset="0"/>
              </a:rPr>
              <a:t>sequence </a:t>
            </a:r>
            <a:endParaRPr lang="zh-CN" alt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020F75-B2C2-51AF-D360-3983EC896A4A}"/>
              </a:ext>
            </a:extLst>
          </p:cNvPr>
          <p:cNvSpPr/>
          <p:nvPr/>
        </p:nvSpPr>
        <p:spPr>
          <a:xfrm>
            <a:off x="1724893" y="562736"/>
            <a:ext cx="2914650" cy="98950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8B7979-FE5D-31F8-0500-48E3EA312B2F}"/>
              </a:ext>
            </a:extLst>
          </p:cNvPr>
          <p:cNvSpPr/>
          <p:nvPr/>
        </p:nvSpPr>
        <p:spPr>
          <a:xfrm>
            <a:off x="1724893" y="1637760"/>
            <a:ext cx="2914650" cy="66957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AB90D6-7CBB-652D-FC27-D4A53A30C36F}"/>
              </a:ext>
            </a:extLst>
          </p:cNvPr>
          <p:cNvSpPr txBox="1"/>
          <p:nvPr/>
        </p:nvSpPr>
        <p:spPr>
          <a:xfrm>
            <a:off x="1268367" y="1715618"/>
            <a:ext cx="3813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Measured pI (</a:t>
            </a:r>
            <a:r>
              <a:rPr lang="en-US" altLang="zh-CN" sz="2200" b="1">
                <a:latin typeface="Arial" panose="020B0604020202020204" pitchFamily="34" charset="0"/>
                <a:cs typeface="Arial" panose="020B0604020202020204" pitchFamily="34" charset="0"/>
              </a:rPr>
              <a:t>pI</a:t>
            </a:r>
            <a:r>
              <a:rPr lang="en-US" altLang="zh-CN" sz="2200" b="1" baseline="-25000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zh-CN" sz="2200" b="1" baseline="30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1D1624F-A781-C107-6BDA-8309B17667DB}"/>
              </a:ext>
            </a:extLst>
          </p:cNvPr>
          <p:cNvSpPr txBox="1"/>
          <p:nvPr/>
        </p:nvSpPr>
        <p:spPr>
          <a:xfrm>
            <a:off x="2314495" y="2592507"/>
            <a:ext cx="3813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b="1">
                <a:latin typeface="Arial" panose="020B0604020202020204" pitchFamily="34" charset="0"/>
                <a:cs typeface="Arial" panose="020B0604020202020204" pitchFamily="34" charset="0"/>
              </a:rPr>
              <a:t>ESM embeddings  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0B3671C-C1C7-3F62-3E5B-E0A6ED1AB967}"/>
              </a:ext>
            </a:extLst>
          </p:cNvPr>
          <p:cNvSpPr/>
          <p:nvPr/>
        </p:nvSpPr>
        <p:spPr>
          <a:xfrm>
            <a:off x="5077692" y="562736"/>
            <a:ext cx="1981200" cy="18089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4" name="文本框 463">
            <a:extLst>
              <a:ext uri="{FF2B5EF4-FFF2-40B4-BE49-F238E27FC236}">
                <a16:creationId xmlns:a16="http://schemas.microsoft.com/office/drawing/2014/main" id="{9B5F711E-09EE-D471-0F4F-EB55F7B11DEA}"/>
              </a:ext>
            </a:extLst>
          </p:cNvPr>
          <p:cNvSpPr txBox="1"/>
          <p:nvPr/>
        </p:nvSpPr>
        <p:spPr>
          <a:xfrm>
            <a:off x="5513356" y="2828460"/>
            <a:ext cx="81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latin typeface="Arial" panose="020B0604020202020204" pitchFamily="34" charset="0"/>
                <a:cs typeface="Arial" panose="020B0604020202020204" pitchFamily="34" charset="0"/>
              </a:rPr>
              <a:t>... </a:t>
            </a:r>
          </a:p>
        </p:txBody>
      </p:sp>
      <p:sp>
        <p:nvSpPr>
          <p:cNvPr id="466" name="文本框 465">
            <a:extLst>
              <a:ext uri="{FF2B5EF4-FFF2-40B4-BE49-F238E27FC236}">
                <a16:creationId xmlns:a16="http://schemas.microsoft.com/office/drawing/2014/main" id="{04FA5707-0F85-632F-DA8D-883284C6EF01}"/>
              </a:ext>
            </a:extLst>
          </p:cNvPr>
          <p:cNvSpPr txBox="1"/>
          <p:nvPr/>
        </p:nvSpPr>
        <p:spPr>
          <a:xfrm>
            <a:off x="4031191" y="3827603"/>
            <a:ext cx="3813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latin typeface="Arial" panose="020B0604020202020204" pitchFamily="34" charset="0"/>
                <a:cs typeface="Arial" panose="020B0604020202020204" pitchFamily="34" charset="0"/>
              </a:rPr>
              <a:t>... </a:t>
            </a:r>
          </a:p>
        </p:txBody>
      </p:sp>
      <p:sp>
        <p:nvSpPr>
          <p:cNvPr id="468" name="文本框 467">
            <a:extLst>
              <a:ext uri="{FF2B5EF4-FFF2-40B4-BE49-F238E27FC236}">
                <a16:creationId xmlns:a16="http://schemas.microsoft.com/office/drawing/2014/main" id="{4292AC2C-76A5-9ADA-EC97-4D62E142EC69}"/>
              </a:ext>
            </a:extLst>
          </p:cNvPr>
          <p:cNvSpPr txBox="1"/>
          <p:nvPr/>
        </p:nvSpPr>
        <p:spPr>
          <a:xfrm>
            <a:off x="4161374" y="875133"/>
            <a:ext cx="38130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Target </a:t>
            </a:r>
          </a:p>
          <a:p>
            <a:pPr algn="ctr"/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residual (</a:t>
            </a:r>
            <a:r>
              <a:rPr lang="en-US" altLang="zh-CN" sz="2200" b="1" i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)  </a:t>
            </a:r>
          </a:p>
          <a:p>
            <a:pPr algn="ctr"/>
            <a:r>
              <a:rPr lang="en-US" altLang="zh-CN" sz="2200" b="1" i="1">
                <a:latin typeface="Arial" panose="020B0604020202020204" pitchFamily="34" charset="0"/>
                <a:cs typeface="Arial" panose="020B0604020202020204" pitchFamily="34" charset="0"/>
              </a:rPr>
              <a:t>r = </a:t>
            </a:r>
            <a:r>
              <a:rPr lang="en-US" altLang="zh-CN" sz="2200" b="1">
                <a:latin typeface="Arial" panose="020B0604020202020204" pitchFamily="34" charset="0"/>
                <a:cs typeface="Arial" panose="020B0604020202020204" pitchFamily="34" charset="0"/>
              </a:rPr>
              <a:t>pI</a:t>
            </a:r>
            <a:r>
              <a:rPr lang="en-US" altLang="zh-CN" sz="2200" b="1" baseline="-25000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r>
              <a:rPr lang="en-US" altLang="zh-CN" sz="2200" b="1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zh-CN" sz="2200" b="1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200" b="1">
                <a:latin typeface="Arial" panose="020B0604020202020204" pitchFamily="34" charset="0"/>
                <a:cs typeface="Arial" panose="020B0604020202020204" pitchFamily="34" charset="0"/>
              </a:rPr>
              <a:t>pI</a:t>
            </a:r>
            <a:r>
              <a:rPr lang="en-US" altLang="zh-CN" sz="2200" b="1" baseline="-25000">
                <a:latin typeface="Arial" panose="020B0604020202020204" pitchFamily="34" charset="0"/>
                <a:cs typeface="Arial" panose="020B0604020202020204" pitchFamily="34" charset="0"/>
              </a:rPr>
              <a:t>base</a:t>
            </a:r>
            <a:endParaRPr lang="en-US" altLang="zh-CN" sz="2200" b="1" baseline="30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96" name="表格 495">
            <a:extLst>
              <a:ext uri="{FF2B5EF4-FFF2-40B4-BE49-F238E27FC236}">
                <a16:creationId xmlns:a16="http://schemas.microsoft.com/office/drawing/2014/main" id="{D40A76D5-F360-DC0D-1239-532325A4B3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519162"/>
              </p:ext>
            </p:extLst>
          </p:nvPr>
        </p:nvGraphicFramePr>
        <p:xfrm>
          <a:off x="491517" y="1796692"/>
          <a:ext cx="49556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565">
                  <a:extLst>
                    <a:ext uri="{9D8B030D-6E8A-4147-A177-3AD203B41FA5}">
                      <a16:colId xmlns:a16="http://schemas.microsoft.com/office/drawing/2014/main" val="2569587478"/>
                    </a:ext>
                  </a:extLst>
                </a:gridCol>
              </a:tblGrid>
              <a:tr h="4190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zh-CN" altLang="en-US" sz="22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096534"/>
                  </a:ext>
                </a:extLst>
              </a:tr>
              <a:tr h="4190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zh-CN" altLang="en-US" sz="22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667616"/>
                  </a:ext>
                </a:extLst>
              </a:tr>
              <a:tr h="4190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endParaRPr lang="zh-CN" altLang="en-US" sz="22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04083"/>
                  </a:ext>
                </a:extLst>
              </a:tr>
              <a:tr h="4190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endParaRPr lang="zh-CN" altLang="en-US" sz="22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150296"/>
                  </a:ext>
                </a:extLst>
              </a:tr>
              <a:tr h="4190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zh-CN" altLang="en-US" sz="22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715465"/>
                  </a:ext>
                </a:extLst>
              </a:tr>
              <a:tr h="4190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  <a:endParaRPr lang="zh-CN" altLang="en-US" sz="22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277388"/>
                  </a:ext>
                </a:extLst>
              </a:tr>
            </a:tbl>
          </a:graphicData>
        </a:graphic>
      </p:graphicFrame>
      <p:sp>
        <p:nvSpPr>
          <p:cNvPr id="498" name="文本框 497">
            <a:extLst>
              <a:ext uri="{FF2B5EF4-FFF2-40B4-BE49-F238E27FC236}">
                <a16:creationId xmlns:a16="http://schemas.microsoft.com/office/drawing/2014/main" id="{87491391-B825-59CC-7C8E-7F5E6E7960DE}"/>
              </a:ext>
            </a:extLst>
          </p:cNvPr>
          <p:cNvSpPr txBox="1"/>
          <p:nvPr/>
        </p:nvSpPr>
        <p:spPr>
          <a:xfrm>
            <a:off x="504697" y="4212787"/>
            <a:ext cx="738664" cy="787682"/>
          </a:xfrm>
          <a:prstGeom prst="rect">
            <a:avLst/>
          </a:prstGeom>
          <a:noFill/>
          <a:ln w="19050">
            <a:noFill/>
          </a:ln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3600" dirty="0"/>
              <a:t>…</a:t>
            </a:r>
            <a:endParaRPr lang="zh-CN" altLang="en-US" sz="3600" dirty="0"/>
          </a:p>
        </p:txBody>
      </p:sp>
      <p:sp>
        <p:nvSpPr>
          <p:cNvPr id="505" name="文本框 504">
            <a:extLst>
              <a:ext uri="{FF2B5EF4-FFF2-40B4-BE49-F238E27FC236}">
                <a16:creationId xmlns:a16="http://schemas.microsoft.com/office/drawing/2014/main" id="{75B75E95-EF12-2A58-FE93-7FC90A849985}"/>
              </a:ext>
            </a:extLst>
          </p:cNvPr>
          <p:cNvSpPr txBox="1"/>
          <p:nvPr/>
        </p:nvSpPr>
        <p:spPr>
          <a:xfrm>
            <a:off x="4996881" y="4737939"/>
            <a:ext cx="29250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b="1">
                <a:latin typeface="Arial" panose="020B0604020202020204" pitchFamily="34" charset="0"/>
                <a:cs typeface="Arial" panose="020B0604020202020204" pitchFamily="34" charset="0"/>
              </a:rPr>
              <a:t>Weights</a:t>
            </a:r>
          </a:p>
        </p:txBody>
      </p:sp>
      <p:sp>
        <p:nvSpPr>
          <p:cNvPr id="507" name="矩形 506">
            <a:extLst>
              <a:ext uri="{FF2B5EF4-FFF2-40B4-BE49-F238E27FC236}">
                <a16:creationId xmlns:a16="http://schemas.microsoft.com/office/drawing/2014/main" id="{2D034908-A165-C458-3BA4-208087992397}"/>
              </a:ext>
            </a:extLst>
          </p:cNvPr>
          <p:cNvSpPr/>
          <p:nvPr/>
        </p:nvSpPr>
        <p:spPr>
          <a:xfrm>
            <a:off x="6355262" y="3022916"/>
            <a:ext cx="560526" cy="365760"/>
          </a:xfrm>
          <a:prstGeom prst="rect">
            <a:avLst/>
          </a:prstGeom>
          <a:solidFill>
            <a:schemeClr val="accent3"/>
          </a:solidFill>
          <a:ln w="190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1" name="文本框 510">
            <a:extLst>
              <a:ext uri="{FF2B5EF4-FFF2-40B4-BE49-F238E27FC236}">
                <a16:creationId xmlns:a16="http://schemas.microsoft.com/office/drawing/2014/main" id="{AFDE2BB5-9079-F603-EB6F-E6D5C76D79A9}"/>
              </a:ext>
            </a:extLst>
          </p:cNvPr>
          <p:cNvSpPr txBox="1"/>
          <p:nvPr/>
        </p:nvSpPr>
        <p:spPr>
          <a:xfrm>
            <a:off x="3925148" y="4194845"/>
            <a:ext cx="738664" cy="787682"/>
          </a:xfrm>
          <a:prstGeom prst="rect">
            <a:avLst/>
          </a:prstGeom>
          <a:noFill/>
          <a:ln w="19050">
            <a:noFill/>
          </a:ln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3600" dirty="0"/>
              <a:t>…</a:t>
            </a:r>
            <a:endParaRPr lang="zh-CN" altLang="en-US" sz="3600" dirty="0"/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866E12A9-0C61-61DF-B9D1-4A8A03FB8AF2}"/>
              </a:ext>
            </a:extLst>
          </p:cNvPr>
          <p:cNvCxnSpPr>
            <a:cxnSpLocks/>
          </p:cNvCxnSpPr>
          <p:nvPr/>
        </p:nvCxnSpPr>
        <p:spPr>
          <a:xfrm>
            <a:off x="4704383" y="1090830"/>
            <a:ext cx="34289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DD212190-B776-5CC1-9F61-D7CF195F18AB}"/>
              </a:ext>
            </a:extLst>
          </p:cNvPr>
          <p:cNvCxnSpPr>
            <a:cxnSpLocks/>
          </p:cNvCxnSpPr>
          <p:nvPr/>
        </p:nvCxnSpPr>
        <p:spPr>
          <a:xfrm>
            <a:off x="4685333" y="1950994"/>
            <a:ext cx="34289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>
            <a:extLst>
              <a:ext uri="{FF2B5EF4-FFF2-40B4-BE49-F238E27FC236}">
                <a16:creationId xmlns:a16="http://schemas.microsoft.com/office/drawing/2014/main" id="{31D7288C-A5C4-7D7B-B113-6B8C6A6B716B}"/>
              </a:ext>
            </a:extLst>
          </p:cNvPr>
          <p:cNvSpPr/>
          <p:nvPr/>
        </p:nvSpPr>
        <p:spPr>
          <a:xfrm>
            <a:off x="7652996" y="1791005"/>
            <a:ext cx="2378534" cy="256032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ABE87204-8D1A-7FF5-13D9-7F73219D6E7C}"/>
              </a:ext>
            </a:extLst>
          </p:cNvPr>
          <p:cNvSpPr txBox="1"/>
          <p:nvPr/>
        </p:nvSpPr>
        <p:spPr>
          <a:xfrm>
            <a:off x="7831167" y="1360874"/>
            <a:ext cx="22410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>
                <a:latin typeface="Arial" panose="020B0604020202020204" pitchFamily="34" charset="0"/>
                <a:cs typeface="Arial" panose="020B0604020202020204" pitchFamily="34" charset="0"/>
              </a:rPr>
              <a:t>Residual SVR</a:t>
            </a:r>
            <a:endParaRPr lang="zh-CN" alt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70159ADD-E90B-DC8D-3480-5BC8627A3BA6}"/>
              </a:ext>
            </a:extLst>
          </p:cNvPr>
          <p:cNvSpPr txBox="1"/>
          <p:nvPr/>
        </p:nvSpPr>
        <p:spPr>
          <a:xfrm>
            <a:off x="7053043" y="2360869"/>
            <a:ext cx="358140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Standard Scalar</a:t>
            </a:r>
          </a:p>
          <a:p>
            <a:pPr algn="ctr"/>
            <a:r>
              <a:rPr lang="en-US" altLang="zh-CN" sz="2200" b="1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  <a:p>
            <a:pPr algn="ctr"/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RBF-SVR</a:t>
            </a:r>
          </a:p>
          <a:p>
            <a:pPr algn="ctr"/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200" i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=0.5, </a:t>
            </a:r>
            <a:r>
              <a:rPr lang="el-GR" altLang="zh-CN" sz="2200" i="1">
                <a:latin typeface="Arial" panose="020B0604020202020204" pitchFamily="34" charset="0"/>
                <a:cs typeface="Arial" panose="020B0604020202020204" pitchFamily="34" charset="0"/>
              </a:rPr>
              <a:t>ε</a:t>
            </a: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=0.05)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84BD1C20-51EB-1B73-75C0-9599A5C18067}"/>
              </a:ext>
            </a:extLst>
          </p:cNvPr>
          <p:cNvSpPr/>
          <p:nvPr/>
        </p:nvSpPr>
        <p:spPr>
          <a:xfrm>
            <a:off x="10595923" y="1791005"/>
            <a:ext cx="1863969" cy="2560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箭头: 右 104">
            <a:extLst>
              <a:ext uri="{FF2B5EF4-FFF2-40B4-BE49-F238E27FC236}">
                <a16:creationId xmlns:a16="http://schemas.microsoft.com/office/drawing/2014/main" id="{0D4BBDFA-5F3A-76EC-2EC8-F04191C9B79A}"/>
              </a:ext>
            </a:extLst>
          </p:cNvPr>
          <p:cNvSpPr/>
          <p:nvPr/>
        </p:nvSpPr>
        <p:spPr>
          <a:xfrm>
            <a:off x="1176339" y="2943392"/>
            <a:ext cx="366393" cy="307298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箭头: 右 108">
            <a:extLst>
              <a:ext uri="{FF2B5EF4-FFF2-40B4-BE49-F238E27FC236}">
                <a16:creationId xmlns:a16="http://schemas.microsoft.com/office/drawing/2014/main" id="{5B800DE4-5F12-75D2-562B-36E58C179F33}"/>
              </a:ext>
            </a:extLst>
          </p:cNvPr>
          <p:cNvSpPr/>
          <p:nvPr/>
        </p:nvSpPr>
        <p:spPr>
          <a:xfrm>
            <a:off x="7183828" y="2943392"/>
            <a:ext cx="366393" cy="307298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箭头: 右 112">
            <a:extLst>
              <a:ext uri="{FF2B5EF4-FFF2-40B4-BE49-F238E27FC236}">
                <a16:creationId xmlns:a16="http://schemas.microsoft.com/office/drawing/2014/main" id="{49764ED7-FAF1-61AE-183D-187D985886BA}"/>
              </a:ext>
            </a:extLst>
          </p:cNvPr>
          <p:cNvSpPr/>
          <p:nvPr/>
        </p:nvSpPr>
        <p:spPr>
          <a:xfrm>
            <a:off x="10143875" y="2943392"/>
            <a:ext cx="366393" cy="307298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09407C02-28C6-33EC-AE7C-CA039E76AC86}"/>
              </a:ext>
            </a:extLst>
          </p:cNvPr>
          <p:cNvSpPr txBox="1"/>
          <p:nvPr/>
        </p:nvSpPr>
        <p:spPr>
          <a:xfrm>
            <a:off x="10709874" y="1360874"/>
            <a:ext cx="18927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>
                <a:latin typeface="Arial" panose="020B0604020202020204" pitchFamily="34" charset="0"/>
                <a:cs typeface="Arial" panose="020B0604020202020204" pitchFamily="34" charset="0"/>
              </a:rPr>
              <a:t>Prediction</a:t>
            </a:r>
            <a:endParaRPr lang="zh-CN" alt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E602EF5-18F5-0EEB-C914-44D5254108AC}"/>
              </a:ext>
            </a:extLst>
          </p:cNvPr>
          <p:cNvSpPr txBox="1"/>
          <p:nvPr/>
        </p:nvSpPr>
        <p:spPr>
          <a:xfrm>
            <a:off x="3264878" y="116204"/>
            <a:ext cx="25994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>
                <a:latin typeface="Arial" panose="020B0604020202020204" pitchFamily="34" charset="0"/>
                <a:cs typeface="Arial" panose="020B0604020202020204" pitchFamily="34" charset="0"/>
              </a:rPr>
              <a:t>Physical baseline  </a:t>
            </a:r>
            <a:endParaRPr lang="zh-CN" alt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60AA5FA4-FB3D-A479-30D2-BA2869D6945E}"/>
              </a:ext>
            </a:extLst>
          </p:cNvPr>
          <p:cNvSpPr txBox="1"/>
          <p:nvPr/>
        </p:nvSpPr>
        <p:spPr>
          <a:xfrm>
            <a:off x="10599293" y="2699426"/>
            <a:ext cx="18927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Predicted </a:t>
            </a:r>
            <a:r>
              <a:rPr lang="en-US" altLang="zh-CN" sz="2200" b="1">
                <a:latin typeface="Arial" panose="020B0604020202020204" pitchFamily="34" charset="0"/>
                <a:cs typeface="Arial" panose="020B0604020202020204" pitchFamily="34" charset="0"/>
              </a:rPr>
              <a:t>pI</a:t>
            </a: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200" b="1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200" b="1" i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2200" b="1" baseline="-25000">
                <a:latin typeface="Arial" panose="020B0604020202020204" pitchFamily="34" charset="0"/>
                <a:cs typeface="Arial" panose="020B0604020202020204" pitchFamily="34" charset="0"/>
              </a:rPr>
              <a:t>pred</a:t>
            </a:r>
            <a:r>
              <a:rPr lang="en-US" altLang="zh-CN" sz="2200" b="1" i="1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altLang="zh-CN" sz="2200" b="1">
                <a:latin typeface="Arial" panose="020B0604020202020204" pitchFamily="34" charset="0"/>
                <a:cs typeface="Arial" panose="020B0604020202020204" pitchFamily="34" charset="0"/>
              </a:rPr>
              <a:t>pI</a:t>
            </a:r>
            <a:r>
              <a:rPr lang="en-US" altLang="zh-CN" sz="2200" b="1" baseline="-25000">
                <a:latin typeface="Arial" panose="020B0604020202020204" pitchFamily="34" charset="0"/>
                <a:cs typeface="Arial" panose="020B0604020202020204" pitchFamily="34" charset="0"/>
              </a:rPr>
              <a:t>base</a:t>
            </a:r>
            <a:endParaRPr lang="zh-CN" altLang="en-US" sz="22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13" name="表格 512">
            <a:extLst>
              <a:ext uri="{FF2B5EF4-FFF2-40B4-BE49-F238E27FC236}">
                <a16:creationId xmlns:a16="http://schemas.microsoft.com/office/drawing/2014/main" id="{B9588F99-BB8A-7505-6B9A-3ADC47C26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189307"/>
              </p:ext>
            </p:extLst>
          </p:nvPr>
        </p:nvGraphicFramePr>
        <p:xfrm>
          <a:off x="2686996" y="3022916"/>
          <a:ext cx="3028809" cy="3256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687">
                  <a:extLst>
                    <a:ext uri="{9D8B030D-6E8A-4147-A177-3AD203B41FA5}">
                      <a16:colId xmlns:a16="http://schemas.microsoft.com/office/drawing/2014/main" val="2202132220"/>
                    </a:ext>
                  </a:extLst>
                </a:gridCol>
                <a:gridCol w="432687">
                  <a:extLst>
                    <a:ext uri="{9D8B030D-6E8A-4147-A177-3AD203B41FA5}">
                      <a16:colId xmlns:a16="http://schemas.microsoft.com/office/drawing/2014/main" val="1009364401"/>
                    </a:ext>
                  </a:extLst>
                </a:gridCol>
                <a:gridCol w="432687">
                  <a:extLst>
                    <a:ext uri="{9D8B030D-6E8A-4147-A177-3AD203B41FA5}">
                      <a16:colId xmlns:a16="http://schemas.microsoft.com/office/drawing/2014/main" val="2022653913"/>
                    </a:ext>
                  </a:extLst>
                </a:gridCol>
                <a:gridCol w="432687">
                  <a:extLst>
                    <a:ext uri="{9D8B030D-6E8A-4147-A177-3AD203B41FA5}">
                      <a16:colId xmlns:a16="http://schemas.microsoft.com/office/drawing/2014/main" val="3798562538"/>
                    </a:ext>
                  </a:extLst>
                </a:gridCol>
                <a:gridCol w="432687">
                  <a:extLst>
                    <a:ext uri="{9D8B030D-6E8A-4147-A177-3AD203B41FA5}">
                      <a16:colId xmlns:a16="http://schemas.microsoft.com/office/drawing/2014/main" val="3480744603"/>
                    </a:ext>
                  </a:extLst>
                </a:gridCol>
                <a:gridCol w="432687">
                  <a:extLst>
                    <a:ext uri="{9D8B030D-6E8A-4147-A177-3AD203B41FA5}">
                      <a16:colId xmlns:a16="http://schemas.microsoft.com/office/drawing/2014/main" val="799818549"/>
                    </a:ext>
                  </a:extLst>
                </a:gridCol>
                <a:gridCol w="432687">
                  <a:extLst>
                    <a:ext uri="{9D8B030D-6E8A-4147-A177-3AD203B41FA5}">
                      <a16:colId xmlns:a16="http://schemas.microsoft.com/office/drawing/2014/main" val="4065966231"/>
                    </a:ext>
                  </a:extLst>
                </a:gridCol>
              </a:tblGrid>
              <a:tr h="32562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765085"/>
                  </a:ext>
                </a:extLst>
              </a:tr>
            </a:tbl>
          </a:graphicData>
        </a:graphic>
      </p:graphicFrame>
      <p:sp>
        <p:nvSpPr>
          <p:cNvPr id="515" name="矩形 514">
            <a:extLst>
              <a:ext uri="{FF2B5EF4-FFF2-40B4-BE49-F238E27FC236}">
                <a16:creationId xmlns:a16="http://schemas.microsoft.com/office/drawing/2014/main" id="{0513F4B9-DE4A-750F-83E4-08A6F063A715}"/>
              </a:ext>
            </a:extLst>
          </p:cNvPr>
          <p:cNvSpPr/>
          <p:nvPr/>
        </p:nvSpPr>
        <p:spPr>
          <a:xfrm>
            <a:off x="1956447" y="3022916"/>
            <a:ext cx="405102" cy="365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zh-CN" altLang="en-US" sz="22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7" name="文本框 516">
            <a:extLst>
              <a:ext uri="{FF2B5EF4-FFF2-40B4-BE49-F238E27FC236}">
                <a16:creationId xmlns:a16="http://schemas.microsoft.com/office/drawing/2014/main" id="{3E4C6D7A-2A15-83B2-CD5A-4A0F9EBA7BAF}"/>
              </a:ext>
            </a:extLst>
          </p:cNvPr>
          <p:cNvSpPr txBox="1"/>
          <p:nvPr/>
        </p:nvSpPr>
        <p:spPr>
          <a:xfrm>
            <a:off x="5522881" y="3304710"/>
            <a:ext cx="81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latin typeface="Arial" panose="020B0604020202020204" pitchFamily="34" charset="0"/>
                <a:cs typeface="Arial" panose="020B0604020202020204" pitchFamily="34" charset="0"/>
              </a:rPr>
              <a:t>... </a:t>
            </a:r>
          </a:p>
        </p:txBody>
      </p:sp>
      <p:sp>
        <p:nvSpPr>
          <p:cNvPr id="519" name="矩形 518">
            <a:extLst>
              <a:ext uri="{FF2B5EF4-FFF2-40B4-BE49-F238E27FC236}">
                <a16:creationId xmlns:a16="http://schemas.microsoft.com/office/drawing/2014/main" id="{D6E41C19-6F67-2339-2A39-A6EDDBA5285B}"/>
              </a:ext>
            </a:extLst>
          </p:cNvPr>
          <p:cNvSpPr/>
          <p:nvPr/>
        </p:nvSpPr>
        <p:spPr>
          <a:xfrm>
            <a:off x="6355262" y="3499166"/>
            <a:ext cx="560526" cy="365760"/>
          </a:xfrm>
          <a:prstGeom prst="rect">
            <a:avLst/>
          </a:prstGeom>
          <a:solidFill>
            <a:schemeClr val="bg2"/>
          </a:solidFill>
          <a:ln w="190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21" name="表格 520">
            <a:extLst>
              <a:ext uri="{FF2B5EF4-FFF2-40B4-BE49-F238E27FC236}">
                <a16:creationId xmlns:a16="http://schemas.microsoft.com/office/drawing/2014/main" id="{FD5BC594-71C5-A89E-8221-32F70D0FD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506333"/>
              </p:ext>
            </p:extLst>
          </p:nvPr>
        </p:nvGraphicFramePr>
        <p:xfrm>
          <a:off x="2686996" y="3499166"/>
          <a:ext cx="3028809" cy="3256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687">
                  <a:extLst>
                    <a:ext uri="{9D8B030D-6E8A-4147-A177-3AD203B41FA5}">
                      <a16:colId xmlns:a16="http://schemas.microsoft.com/office/drawing/2014/main" val="2202132220"/>
                    </a:ext>
                  </a:extLst>
                </a:gridCol>
                <a:gridCol w="432687">
                  <a:extLst>
                    <a:ext uri="{9D8B030D-6E8A-4147-A177-3AD203B41FA5}">
                      <a16:colId xmlns:a16="http://schemas.microsoft.com/office/drawing/2014/main" val="1009364401"/>
                    </a:ext>
                  </a:extLst>
                </a:gridCol>
                <a:gridCol w="432687">
                  <a:extLst>
                    <a:ext uri="{9D8B030D-6E8A-4147-A177-3AD203B41FA5}">
                      <a16:colId xmlns:a16="http://schemas.microsoft.com/office/drawing/2014/main" val="2022653913"/>
                    </a:ext>
                  </a:extLst>
                </a:gridCol>
                <a:gridCol w="432687">
                  <a:extLst>
                    <a:ext uri="{9D8B030D-6E8A-4147-A177-3AD203B41FA5}">
                      <a16:colId xmlns:a16="http://schemas.microsoft.com/office/drawing/2014/main" val="3798562538"/>
                    </a:ext>
                  </a:extLst>
                </a:gridCol>
                <a:gridCol w="432687">
                  <a:extLst>
                    <a:ext uri="{9D8B030D-6E8A-4147-A177-3AD203B41FA5}">
                      <a16:colId xmlns:a16="http://schemas.microsoft.com/office/drawing/2014/main" val="3480744603"/>
                    </a:ext>
                  </a:extLst>
                </a:gridCol>
                <a:gridCol w="432687">
                  <a:extLst>
                    <a:ext uri="{9D8B030D-6E8A-4147-A177-3AD203B41FA5}">
                      <a16:colId xmlns:a16="http://schemas.microsoft.com/office/drawing/2014/main" val="799818549"/>
                    </a:ext>
                  </a:extLst>
                </a:gridCol>
                <a:gridCol w="432687">
                  <a:extLst>
                    <a:ext uri="{9D8B030D-6E8A-4147-A177-3AD203B41FA5}">
                      <a16:colId xmlns:a16="http://schemas.microsoft.com/office/drawing/2014/main" val="4065966231"/>
                    </a:ext>
                  </a:extLst>
                </a:gridCol>
              </a:tblGrid>
              <a:tr h="32562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765085"/>
                  </a:ext>
                </a:extLst>
              </a:tr>
            </a:tbl>
          </a:graphicData>
        </a:graphic>
      </p:graphicFrame>
      <p:sp>
        <p:nvSpPr>
          <p:cNvPr id="523" name="矩形 522">
            <a:extLst>
              <a:ext uri="{FF2B5EF4-FFF2-40B4-BE49-F238E27FC236}">
                <a16:creationId xmlns:a16="http://schemas.microsoft.com/office/drawing/2014/main" id="{2E30E8FC-A7A7-F700-85D9-D2C41D7BB791}"/>
              </a:ext>
            </a:extLst>
          </p:cNvPr>
          <p:cNvSpPr/>
          <p:nvPr/>
        </p:nvSpPr>
        <p:spPr>
          <a:xfrm>
            <a:off x="1956447" y="3499166"/>
            <a:ext cx="405102" cy="3657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zh-CN" altLang="en-US" sz="22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5" name="矩形 524">
            <a:extLst>
              <a:ext uri="{FF2B5EF4-FFF2-40B4-BE49-F238E27FC236}">
                <a16:creationId xmlns:a16="http://schemas.microsoft.com/office/drawing/2014/main" id="{C9B6ED3E-CB96-46EE-B66B-31CD41E6FB0A}"/>
              </a:ext>
            </a:extLst>
          </p:cNvPr>
          <p:cNvSpPr/>
          <p:nvPr/>
        </p:nvSpPr>
        <p:spPr>
          <a:xfrm>
            <a:off x="6355262" y="3975416"/>
            <a:ext cx="560526" cy="365760"/>
          </a:xfrm>
          <a:prstGeom prst="rect">
            <a:avLst/>
          </a:prstGeom>
          <a:solidFill>
            <a:schemeClr val="bg2">
              <a:lumMod val="50000"/>
            </a:schemeClr>
          </a:solidFill>
          <a:ln w="190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27" name="表格 526">
            <a:extLst>
              <a:ext uri="{FF2B5EF4-FFF2-40B4-BE49-F238E27FC236}">
                <a16:creationId xmlns:a16="http://schemas.microsoft.com/office/drawing/2014/main" id="{58470D77-EAC8-8469-3227-E3C10ED9F5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252604"/>
              </p:ext>
            </p:extLst>
          </p:nvPr>
        </p:nvGraphicFramePr>
        <p:xfrm>
          <a:off x="2686996" y="3975416"/>
          <a:ext cx="3028809" cy="3256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687">
                  <a:extLst>
                    <a:ext uri="{9D8B030D-6E8A-4147-A177-3AD203B41FA5}">
                      <a16:colId xmlns:a16="http://schemas.microsoft.com/office/drawing/2014/main" val="2202132220"/>
                    </a:ext>
                  </a:extLst>
                </a:gridCol>
                <a:gridCol w="432687">
                  <a:extLst>
                    <a:ext uri="{9D8B030D-6E8A-4147-A177-3AD203B41FA5}">
                      <a16:colId xmlns:a16="http://schemas.microsoft.com/office/drawing/2014/main" val="1009364401"/>
                    </a:ext>
                  </a:extLst>
                </a:gridCol>
                <a:gridCol w="432687">
                  <a:extLst>
                    <a:ext uri="{9D8B030D-6E8A-4147-A177-3AD203B41FA5}">
                      <a16:colId xmlns:a16="http://schemas.microsoft.com/office/drawing/2014/main" val="2022653913"/>
                    </a:ext>
                  </a:extLst>
                </a:gridCol>
                <a:gridCol w="432687">
                  <a:extLst>
                    <a:ext uri="{9D8B030D-6E8A-4147-A177-3AD203B41FA5}">
                      <a16:colId xmlns:a16="http://schemas.microsoft.com/office/drawing/2014/main" val="3798562538"/>
                    </a:ext>
                  </a:extLst>
                </a:gridCol>
                <a:gridCol w="432687">
                  <a:extLst>
                    <a:ext uri="{9D8B030D-6E8A-4147-A177-3AD203B41FA5}">
                      <a16:colId xmlns:a16="http://schemas.microsoft.com/office/drawing/2014/main" val="3480744603"/>
                    </a:ext>
                  </a:extLst>
                </a:gridCol>
                <a:gridCol w="432687">
                  <a:extLst>
                    <a:ext uri="{9D8B030D-6E8A-4147-A177-3AD203B41FA5}">
                      <a16:colId xmlns:a16="http://schemas.microsoft.com/office/drawing/2014/main" val="799818549"/>
                    </a:ext>
                  </a:extLst>
                </a:gridCol>
                <a:gridCol w="432687">
                  <a:extLst>
                    <a:ext uri="{9D8B030D-6E8A-4147-A177-3AD203B41FA5}">
                      <a16:colId xmlns:a16="http://schemas.microsoft.com/office/drawing/2014/main" val="4065966231"/>
                    </a:ext>
                  </a:extLst>
                </a:gridCol>
              </a:tblGrid>
              <a:tr h="32562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765085"/>
                  </a:ext>
                </a:extLst>
              </a:tr>
            </a:tbl>
          </a:graphicData>
        </a:graphic>
      </p:graphicFrame>
      <p:sp>
        <p:nvSpPr>
          <p:cNvPr id="529" name="矩形 528">
            <a:extLst>
              <a:ext uri="{FF2B5EF4-FFF2-40B4-BE49-F238E27FC236}">
                <a16:creationId xmlns:a16="http://schemas.microsoft.com/office/drawing/2014/main" id="{A484D8D9-301F-2AF1-76D6-157F15119D5E}"/>
              </a:ext>
            </a:extLst>
          </p:cNvPr>
          <p:cNvSpPr/>
          <p:nvPr/>
        </p:nvSpPr>
        <p:spPr>
          <a:xfrm>
            <a:off x="1956447" y="3975416"/>
            <a:ext cx="405102" cy="3657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lang="zh-CN" altLang="en-US" sz="22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3" name="文本框 532">
            <a:extLst>
              <a:ext uri="{FF2B5EF4-FFF2-40B4-BE49-F238E27FC236}">
                <a16:creationId xmlns:a16="http://schemas.microsoft.com/office/drawing/2014/main" id="{A975C9F3-0284-C1E2-9718-14C0AAB4DBC8}"/>
              </a:ext>
            </a:extLst>
          </p:cNvPr>
          <p:cNvSpPr txBox="1"/>
          <p:nvPr/>
        </p:nvSpPr>
        <p:spPr>
          <a:xfrm>
            <a:off x="1923171" y="4178456"/>
            <a:ext cx="738664" cy="787682"/>
          </a:xfrm>
          <a:prstGeom prst="rect">
            <a:avLst/>
          </a:prstGeom>
          <a:noFill/>
          <a:ln w="19050">
            <a:noFill/>
          </a:ln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3600" dirty="0"/>
              <a:t>…</a:t>
            </a:r>
            <a:endParaRPr lang="zh-CN" altLang="en-US" sz="3600" dirty="0"/>
          </a:p>
        </p:txBody>
      </p:sp>
      <p:sp>
        <p:nvSpPr>
          <p:cNvPr id="535" name="文本框 534">
            <a:extLst>
              <a:ext uri="{FF2B5EF4-FFF2-40B4-BE49-F238E27FC236}">
                <a16:creationId xmlns:a16="http://schemas.microsoft.com/office/drawing/2014/main" id="{3EF12619-6544-63BB-D750-005DF8D70BDA}"/>
              </a:ext>
            </a:extLst>
          </p:cNvPr>
          <p:cNvSpPr txBox="1"/>
          <p:nvPr/>
        </p:nvSpPr>
        <p:spPr>
          <a:xfrm>
            <a:off x="6401483" y="4171067"/>
            <a:ext cx="738664" cy="787682"/>
          </a:xfrm>
          <a:prstGeom prst="rect">
            <a:avLst/>
          </a:prstGeom>
          <a:noFill/>
          <a:ln w="19050">
            <a:noFill/>
          </a:ln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3600" dirty="0"/>
              <a:t>…</a:t>
            </a:r>
            <a:endParaRPr lang="zh-CN" altLang="en-US" sz="3600" dirty="0"/>
          </a:p>
        </p:txBody>
      </p:sp>
      <p:sp>
        <p:nvSpPr>
          <p:cNvPr id="537" name="文本框 536">
            <a:extLst>
              <a:ext uri="{FF2B5EF4-FFF2-40B4-BE49-F238E27FC236}">
                <a16:creationId xmlns:a16="http://schemas.microsoft.com/office/drawing/2014/main" id="{47718FA2-A271-AB5F-2189-FE974A2545CB}"/>
              </a:ext>
            </a:extLst>
          </p:cNvPr>
          <p:cNvSpPr txBox="1"/>
          <p:nvPr/>
        </p:nvSpPr>
        <p:spPr>
          <a:xfrm>
            <a:off x="1275600" y="4766774"/>
            <a:ext cx="29250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b="1">
                <a:latin typeface="Arial" panose="020B0604020202020204" pitchFamily="34" charset="0"/>
                <a:cs typeface="Arial" panose="020B0604020202020204" pitchFamily="34" charset="0"/>
              </a:rPr>
              <a:t>Residue types</a:t>
            </a:r>
          </a:p>
        </p:txBody>
      </p:sp>
      <p:sp>
        <p:nvSpPr>
          <p:cNvPr id="539" name="矩形 538">
            <a:extLst>
              <a:ext uri="{FF2B5EF4-FFF2-40B4-BE49-F238E27FC236}">
                <a16:creationId xmlns:a16="http://schemas.microsoft.com/office/drawing/2014/main" id="{49C5A17D-0116-1542-25FB-690E1D65F61A}"/>
              </a:ext>
            </a:extLst>
          </p:cNvPr>
          <p:cNvSpPr/>
          <p:nvPr/>
        </p:nvSpPr>
        <p:spPr>
          <a:xfrm>
            <a:off x="1732797" y="2571976"/>
            <a:ext cx="5326097" cy="2634948"/>
          </a:xfrm>
          <a:prstGeom prst="rect">
            <a:avLst/>
          </a:prstGeom>
          <a:noFill/>
          <a:ln w="28575">
            <a:solidFill>
              <a:schemeClr val="accent3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970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2440</TotalTime>
  <Words>67</Words>
  <Application>Microsoft Office PowerPoint</Application>
  <PresentationFormat>自定义</PresentationFormat>
  <Paragraphs>35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Lyu Kevin</dc:creator>
  <cp:lastModifiedBy>yandong huang</cp:lastModifiedBy>
  <cp:revision>136</cp:revision>
  <cp:lastPrinted>2021-03-22T11:14:34Z</cp:lastPrinted>
  <dcterms:created xsi:type="dcterms:W3CDTF">2021-03-13T12:43:30Z</dcterms:created>
  <dcterms:modified xsi:type="dcterms:W3CDTF">2026-09-22T00:57:05Z</dcterms:modified>
</cp:coreProperties>
</file>